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66" r:id="rId2"/>
    <p:sldId id="267" r:id="rId3"/>
    <p:sldId id="283" r:id="rId4"/>
    <p:sldId id="284" r:id="rId5"/>
    <p:sldId id="285" r:id="rId6"/>
    <p:sldId id="274" r:id="rId7"/>
    <p:sldId id="275" r:id="rId8"/>
    <p:sldId id="301" r:id="rId9"/>
    <p:sldId id="294" r:id="rId10"/>
    <p:sldId id="286" r:id="rId11"/>
    <p:sldId id="281" r:id="rId12"/>
    <p:sldId id="296" r:id="rId13"/>
    <p:sldId id="297" r:id="rId14"/>
    <p:sldId id="298" r:id="rId15"/>
    <p:sldId id="300" r:id="rId16"/>
    <p:sldId id="302" r:id="rId17"/>
    <p:sldId id="303" r:id="rId18"/>
    <p:sldId id="30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6D483-F649-406D-B228-0E9D9CC2B8E6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4090-D3FA-4C3D-B6EA-B468282A2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341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6D483-F649-406D-B228-0E9D9CC2B8E6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4090-D3FA-4C3D-B6EA-B468282A2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190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6D483-F649-406D-B228-0E9D9CC2B8E6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4090-D3FA-4C3D-B6EA-B468282A2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900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6D483-F649-406D-B228-0E9D9CC2B8E6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4090-D3FA-4C3D-B6EA-B468282A2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018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6D483-F649-406D-B228-0E9D9CC2B8E6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4090-D3FA-4C3D-B6EA-B468282A2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421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6D483-F649-406D-B228-0E9D9CC2B8E6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4090-D3FA-4C3D-B6EA-B468282A2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447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6D483-F649-406D-B228-0E9D9CC2B8E6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4090-D3FA-4C3D-B6EA-B468282A2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726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6D483-F649-406D-B228-0E9D9CC2B8E6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4090-D3FA-4C3D-B6EA-B468282A2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550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6D483-F649-406D-B228-0E9D9CC2B8E6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4090-D3FA-4C3D-B6EA-B468282A2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642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6D483-F649-406D-B228-0E9D9CC2B8E6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4090-D3FA-4C3D-B6EA-B468282A2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75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6D483-F649-406D-B228-0E9D9CC2B8E6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4090-D3FA-4C3D-B6EA-B468282A2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9519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6D483-F649-406D-B228-0E9D9CC2B8E6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4090-D3FA-4C3D-B6EA-B468282A267A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82948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6D483-F649-406D-B228-0E9D9CC2B8E6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4090-D3FA-4C3D-B6EA-B468282A2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1196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6D483-F649-406D-B228-0E9D9CC2B8E6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4090-D3FA-4C3D-B6EA-B468282A2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3349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6D483-F649-406D-B228-0E9D9CC2B8E6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4090-D3FA-4C3D-B6EA-B468282A2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22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6D483-F649-406D-B228-0E9D9CC2B8E6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4090-D3FA-4C3D-B6EA-B468282A2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4253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6D483-F649-406D-B228-0E9D9CC2B8E6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4090-D3FA-4C3D-B6EA-B468282A2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743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36D483-F649-406D-B228-0E9D9CC2B8E6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B34090-D3FA-4C3D-B6EA-B468282A2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4212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3C8F823-DE5E-E110-E762-203C7EC55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FC580CB-0572-3582-13D3-94947BE93BD2}"/>
                  </a:ext>
                </a:extLst>
              </p:cNvPr>
              <p:cNvSpPr txBox="1"/>
              <p:nvPr/>
            </p:nvSpPr>
            <p:spPr>
              <a:xfrm>
                <a:off x="7172378" y="3429000"/>
                <a:ext cx="4077970" cy="35219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𝑙𝑛</m:t>
                          </m:r>
                          <m:d>
                            <m:d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i="1" dirty="0">
                  <a:latin typeface="Aptos" panose="020B00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𝑟𝑒𝑓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𝑙𝑛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b="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>
                  <a:latin typeface="Aptos" panose="020B00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>
                  <a:latin typeface="Aptos" panose="020B00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Aptos" panose="020B0004020202020204" pitchFamily="34" charset="0"/>
                  </a:rPr>
                  <a:t>Pick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dirty="0">
                    <a:latin typeface="Aptos" panose="020B0004020202020204" pitchFamily="34" charset="0"/>
                  </a:rPr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Aptos" panose="020B0004020202020204" pitchFamily="34" charset="0"/>
                  </a:rPr>
                  <a:t> to get desired current range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Aptos" panose="020B0004020202020204" pitchFamily="34" charset="0"/>
                  </a:rPr>
                  <a:t>Pick precise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latin typeface="Aptos" panose="020B0004020202020204" pitchFamily="34" charset="0"/>
                  </a:rPr>
                  <a:t>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800" dirty="0">
                    <a:latin typeface="Aptos" panose="020B0004020202020204" pitchFamily="34" charset="0"/>
                  </a:rPr>
                  <a:t> to cancel the PTAT with CTAT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Aptos" panose="020B0004020202020204" pitchFamily="34" charset="0"/>
                  </a:rPr>
                  <a:t>Pick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dirty="0">
                    <a:latin typeface="Aptos" panose="020B0004020202020204" pitchFamily="34" charset="0"/>
                  </a:rPr>
                  <a:t> to get desired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</m:oMath>
                </a14:m>
                <a:endParaRPr lang="en-US" sz="1800" dirty="0">
                  <a:latin typeface="Aptos" panose="020B00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Aptos" panose="020B0004020202020204" pitchFamily="34" charset="0"/>
                  </a:rPr>
                  <a:t>We wanted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</m:oMath>
                </a14:m>
                <a:r>
                  <a:rPr lang="en-US" sz="1800" dirty="0">
                    <a:latin typeface="Aptos" panose="020B0004020202020204" pitchFamily="34" charset="0"/>
                  </a:rPr>
                  <a:t> of 713mV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8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FC580CB-0572-3582-13D3-94947BE93B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2378" y="3429000"/>
                <a:ext cx="4077970" cy="3521990"/>
              </a:xfrm>
              <a:prstGeom prst="rect">
                <a:avLst/>
              </a:prstGeom>
              <a:blipFill>
                <a:blip r:embed="rId2"/>
                <a:stretch>
                  <a:fillRect l="-10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C29EC4CF-946B-A48E-2176-4D16838C2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91" y="274626"/>
            <a:ext cx="3684760" cy="287060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34BD77C-8DD9-D46A-D798-58C061AB58A9}"/>
              </a:ext>
            </a:extLst>
          </p:cNvPr>
          <p:cNvSpPr txBox="1"/>
          <p:nvPr/>
        </p:nvSpPr>
        <p:spPr>
          <a:xfrm>
            <a:off x="146890" y="0"/>
            <a:ext cx="120451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BGR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DA722E-9C6D-D83B-4CD1-DE7883DFFF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1687" y="112036"/>
            <a:ext cx="3648661" cy="331696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F198F90-2A88-D02F-B472-28AF5C5D1038}"/>
                  </a:ext>
                </a:extLst>
              </p:cNvPr>
              <p:cNvSpPr txBox="1"/>
              <p:nvPr/>
            </p:nvSpPr>
            <p:spPr>
              <a:xfrm>
                <a:off x="717886" y="3400805"/>
                <a:ext cx="4077970" cy="30827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𝑙𝑛</m:t>
                          </m:r>
                          <m:d>
                            <m:d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i="1" dirty="0">
                  <a:latin typeface="Aptos" panose="020B00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𝑟𝑒𝑓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𝐵𝐸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𝑙𝑛</m:t>
                          </m:r>
                          <m:d>
                            <m:d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800" dirty="0">
                  <a:latin typeface="Aptos" panose="020B00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Aptos" panose="020B0004020202020204" pitchFamily="34" charset="0"/>
                  </a:rPr>
                  <a:t>Pick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>
                    <a:latin typeface="Aptos" panose="020B0004020202020204" pitchFamily="34" charset="0"/>
                  </a:rPr>
                  <a:t> to set current in the branches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Aptos" panose="020B0004020202020204" pitchFamily="34" charset="0"/>
                  </a:rPr>
                  <a:t>Pick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dirty="0">
                    <a:latin typeface="Aptos" panose="020B0004020202020204" pitchFamily="34" charset="0"/>
                  </a:rPr>
                  <a:t> to cancel the PTAT with CTAT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𝑟𝑒𝑓</m:t>
                            </m:r>
                          </m:sub>
                        </m:sSub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𝑑𝑇</m:t>
                        </m:r>
                      </m:den>
                    </m:f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800" dirty="0">
                    <a:latin typeface="Aptos" panose="020B0004020202020204" pitchFamily="34" charset="0"/>
                  </a:rPr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</m:oMath>
                </a14:m>
                <a:r>
                  <a:rPr lang="en-US" sz="1800" dirty="0">
                    <a:latin typeface="Aptos" panose="020B0004020202020204" pitchFamily="34" charset="0"/>
                  </a:rPr>
                  <a:t> set and no control over it, usually around 1.2V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F198F90-2A88-D02F-B472-28AF5C5D10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886" y="3400805"/>
                <a:ext cx="4077970" cy="3082767"/>
              </a:xfrm>
              <a:prstGeom prst="rect">
                <a:avLst/>
              </a:prstGeom>
              <a:blipFill>
                <a:blip r:embed="rId5"/>
                <a:stretch>
                  <a:fillRect l="-1046" r="-747" b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591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5B5960B-B7E4-0CB4-1040-8EB46CF9BC67}"/>
                  </a:ext>
                </a:extLst>
              </p:cNvPr>
              <p:cNvSpPr txBox="1"/>
              <p:nvPr/>
            </p:nvSpPr>
            <p:spPr>
              <a:xfrm>
                <a:off x="73445" y="914400"/>
                <a:ext cx="7929818" cy="43616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Aptos" panose="020B0004020202020204" pitchFamily="34" charset="0"/>
                  </a:rPr>
                  <a:t>Why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=0.713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>
                    <a:latin typeface="Aptos" panose="020B0004020202020204" pitchFamily="34" charset="0"/>
                  </a:rPr>
                  <a:t>?</a:t>
                </a:r>
              </a:p>
              <a:p>
                <a:pPr marL="342900" indent="-342900">
                  <a:buAutoNum type="arabicParenR"/>
                </a:pPr>
                <a:r>
                  <a:rPr lang="en-US" dirty="0">
                    <a:latin typeface="Aptos" panose="020B0004020202020204" pitchFamily="34" charset="0"/>
                  </a:rPr>
                  <a:t>The minimal input common mode voltage of the OTA that will be</a:t>
                </a:r>
              </a:p>
              <a:p>
                <a:r>
                  <a:rPr lang="en-US" dirty="0">
                    <a:latin typeface="Aptos" panose="020B0004020202020204" pitchFamily="34" charset="0"/>
                  </a:rPr>
                  <a:t>used for both BGR and LDO is lower bounded by: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𝐷𝑆𝐴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&gt;120+500=620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𝑚𝑉</m:t>
                      </m:r>
                    </m:oMath>
                  </m:oMathPara>
                </a14:m>
                <a:endParaRPr lang="en-US" b="0" dirty="0">
                  <a:latin typeface="Aptos" panose="020B0004020202020204" pitchFamily="34" charset="0"/>
                </a:endParaRPr>
              </a:p>
              <a:p>
                <a:r>
                  <a:rPr lang="en-US" dirty="0">
                    <a:latin typeface="Aptos" panose="020B0004020202020204" pitchFamily="34" charset="0"/>
                  </a:rPr>
                  <a:t>Hence,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&gt;0.62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b="0" i="1" dirty="0">
                  <a:latin typeface="Aptos" panose="020B0004020202020204" pitchFamily="34" charset="0"/>
                </a:endParaRPr>
              </a:p>
              <a:p>
                <a:endParaRPr lang="en-US" i="1" dirty="0">
                  <a:latin typeface="Aptos" panose="020B0004020202020204" pitchFamily="34" charset="0"/>
                </a:endParaRPr>
              </a:p>
              <a:p>
                <a:endParaRPr lang="en-US" b="0" i="1" dirty="0">
                  <a:latin typeface="Aptos" panose="020B0004020202020204" pitchFamily="34" charset="0"/>
                </a:endParaRPr>
              </a:p>
              <a:p>
                <a:endParaRPr lang="en-US" b="0" i="1" dirty="0">
                  <a:latin typeface="Aptos" panose="020B0004020202020204" pitchFamily="34" charset="0"/>
                </a:endParaRPr>
              </a:p>
              <a:p>
                <a:r>
                  <a:rPr lang="en-US" dirty="0">
                    <a:latin typeface="Aptos" panose="020B0004020202020204" pitchFamily="34" charset="0"/>
                  </a:rPr>
                  <a:t>2) In the LDO, nominal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dirty="0">
                    <a:latin typeface="Aptos" panose="020B0004020202020204" pitchFamily="34" charset="0"/>
                  </a:rPr>
                  <a:t> is 0.9V, hence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&lt;0.9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>
                    <a:latin typeface="Aptos" panose="020B0004020202020204" pitchFamily="34" charset="0"/>
                  </a:rPr>
                  <a:t> thus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&lt;0.9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dirty="0">
                  <a:latin typeface="Aptos" panose="020B0004020202020204" pitchFamily="34" charset="0"/>
                </a:endParaRPr>
              </a:p>
              <a:p>
                <a:r>
                  <a:rPr lang="en-US" b="0" dirty="0">
                    <a:latin typeface="Aptos" panose="020B0004020202020204" pitchFamily="34" charset="0"/>
                  </a:rPr>
                  <a:t>3)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=0.713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>
                    <a:latin typeface="Aptos" panose="020B0004020202020204" pitchFamily="34" charset="0"/>
                  </a:rPr>
                  <a:t>, hence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𝐷𝑆</m:t>
                        </m:r>
                      </m:sub>
                    </m:sSub>
                  </m:oMath>
                </a14:m>
                <a:r>
                  <a:rPr lang="en-US" dirty="0">
                    <a:latin typeface="Aptos" panose="020B0004020202020204" pitchFamily="34" charset="0"/>
                  </a:rPr>
                  <a:t> will be equal for all current mirror transistors, so current matching is much better, which will improve the PSRR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</m:oMath>
                </a14:m>
                <a:r>
                  <a:rPr lang="en-US" dirty="0">
                    <a:latin typeface="Aptos" panose="020B0004020202020204" pitchFamily="34" charset="0"/>
                  </a:rPr>
                  <a:t> sensitivity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𝐷𝐷</m:t>
                        </m:r>
                      </m:sub>
                    </m:sSub>
                  </m:oMath>
                </a14:m>
                <a:r>
                  <a:rPr lang="en-US" dirty="0">
                    <a:latin typeface="Aptos" panose="020B0004020202020204" pitchFamily="34" charset="0"/>
                  </a:rPr>
                  <a:t> fluctuations).</a:t>
                </a:r>
              </a:p>
              <a:p>
                <a:pPr marL="342900" indent="-342900">
                  <a:buAutoNum type="arabicParenR"/>
                </a:pP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5B5960B-B7E4-0CB4-1040-8EB46CF9BC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5" y="914400"/>
                <a:ext cx="7929818" cy="4361643"/>
              </a:xfrm>
              <a:prstGeom prst="rect">
                <a:avLst/>
              </a:prstGeom>
              <a:blipFill>
                <a:blip r:embed="rId2"/>
                <a:stretch>
                  <a:fillRect l="-692" t="-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9169DDB4-3A3E-A41D-E72D-B58D43A35F14}"/>
              </a:ext>
            </a:extLst>
          </p:cNvPr>
          <p:cNvSpPr txBox="1"/>
          <p:nvPr/>
        </p:nvSpPr>
        <p:spPr>
          <a:xfrm>
            <a:off x="73445" y="51011"/>
            <a:ext cx="120451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BGR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6875F0F2-6A1D-FB8A-3153-B49B75A652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0A04033A-77F3-E437-AC90-07B7F09ACE5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C396FE8-959D-40E8-9657-F4273C697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9743" y="4059407"/>
            <a:ext cx="3333184" cy="253075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5846C0A-B9EF-F9A4-C926-A8D213BC38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3263" y="449997"/>
            <a:ext cx="4014195" cy="29790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6EE25B6-7F64-4576-AD25-0E37C79336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1854" y="4111298"/>
            <a:ext cx="3021373" cy="2746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891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74DC3BA-7233-AC7D-226C-7F847C46E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B8CCDC-E648-8609-D18C-BBD03B996808}"/>
              </a:ext>
            </a:extLst>
          </p:cNvPr>
          <p:cNvSpPr txBox="1"/>
          <p:nvPr/>
        </p:nvSpPr>
        <p:spPr>
          <a:xfrm>
            <a:off x="73445" y="0"/>
            <a:ext cx="120451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BGR - DC Operating Point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0C179F62-C7C6-7287-7962-9F63EB10DC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408265-6229-4DC9-ED2F-CC7CE985D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283" y="830997"/>
            <a:ext cx="8297433" cy="588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765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7C01C98-C147-1A60-65F9-B1D9CA1AC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F12F66-A705-7F11-4CDF-CCCB6DA0330F}"/>
                  </a:ext>
                </a:extLst>
              </p:cNvPr>
              <p:cNvSpPr txBox="1"/>
              <p:nvPr/>
            </p:nvSpPr>
            <p:spPr>
              <a:xfrm>
                <a:off x="146890" y="86246"/>
                <a:ext cx="12045110" cy="900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4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4800" b="1" i="1" smtClean="0">
                            <a:latin typeface="Cambria Math" panose="02040503050406030204" pitchFamily="18" charset="0"/>
                          </a:rPr>
                          <m:t>𝒓𝒆𝒇</m:t>
                        </m:r>
                      </m:sub>
                    </m:sSub>
                  </m:oMath>
                </a14:m>
                <a:r>
                  <a:rPr lang="en-US" sz="4800" b="1" dirty="0"/>
                  <a:t> across temperature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F12F66-A705-7F11-4CDF-CCCB6DA03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90" y="86246"/>
                <a:ext cx="12045110" cy="900888"/>
              </a:xfrm>
              <a:prstGeom prst="rect">
                <a:avLst/>
              </a:prstGeom>
              <a:blipFill>
                <a:blip r:embed="rId2"/>
                <a:stretch>
                  <a:fillRect t="-16892" b="-256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906019B-933A-E8A2-A152-EC3C0403B51F}"/>
                  </a:ext>
                </a:extLst>
              </p:cNvPr>
              <p:cNvSpPr txBox="1"/>
              <p:nvPr/>
            </p:nvSpPr>
            <p:spPr>
              <a:xfrm>
                <a:off x="225622" y="1068615"/>
                <a:ext cx="11887646" cy="8624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latin typeface="Aptos" panose="020B0004020202020204" pitchFamily="34" charset="0"/>
                  </a:rPr>
                  <a:t>Max fluctuatio</a:t>
                </a:r>
                <a:r>
                  <a:rPr lang="en-US" dirty="0">
                    <a:latin typeface="Aptos" panose="020B0004020202020204" pitchFamily="34" charset="0"/>
                  </a:rPr>
                  <a:t>n is 0.925mV</a:t>
                </a:r>
                <a:r>
                  <a:rPr lang="en-US" sz="1800" dirty="0">
                    <a:latin typeface="Aptos" panose="020B0004020202020204" pitchFamily="34" charset="0"/>
                  </a:rPr>
                  <a:t>, approx.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800" b="0" i="1">
                                <a:latin typeface="Cambria Math" panose="02040503050406030204" pitchFamily="18" charset="0"/>
                              </a:rPr>
                              <m:t>𝑟𝑒</m:t>
                            </m:r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1800" b="0" i="1">
                                    <a:latin typeface="Cambria Math" panose="02040503050406030204" pitchFamily="18" charset="0"/>
                                  </a:rPr>
                                  <m:t>𝑚𝑎𝑥</m:t>
                                </m:r>
                              </m:sub>
                            </m:sSub>
                          </m:sub>
                        </m:sSub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800" b="0" i="1">
                                <a:latin typeface="Cambria Math" panose="02040503050406030204" pitchFamily="18" charset="0"/>
                              </a:rPr>
                              <m:t>𝑟𝑒</m:t>
                            </m:r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1800" b="0" i="1">
                                    <a:latin typeface="Cambria Math" panose="02040503050406030204" pitchFamily="18" charset="0"/>
                                  </a:rPr>
                                  <m:t>𝑚𝑖𝑛</m:t>
                                </m:r>
                              </m:sub>
                            </m:sSub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800" b="0" i="1">
                                <a:latin typeface="Cambria Math" panose="02040503050406030204" pitchFamily="18" charset="0"/>
                              </a:rPr>
                              <m:t>𝑟𝑒</m:t>
                            </m:r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1800" b="0" i="1">
                                    <a:latin typeface="Cambria Math" panose="02040503050406030204" pitchFamily="18" charset="0"/>
                                  </a:rPr>
                                  <m:t>𝑎𝑣𝑔</m:t>
                                </m:r>
                              </m:sub>
                            </m:sSub>
                          </m:sub>
                        </m:sSub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𝛥</m:t>
                        </m:r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r>
                      <a:rPr lang="en-US" sz="1800" b="0" i="1">
                        <a:latin typeface="Cambria Math" panose="02040503050406030204" pitchFamily="18" charset="0"/>
                      </a:rPr>
                      <m:t>∗1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sz="1800" b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7.6</m:t>
                    </m:r>
                    <m:f>
                      <m:f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𝑝𝑝𝑚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den>
                    </m:f>
                  </m:oMath>
                </a14:m>
                <a:endParaRPr lang="en-US" sz="1600" dirty="0">
                  <a:latin typeface="Aptos" panose="020B0004020202020204" pitchFamily="34" charset="0"/>
                </a:endParaRPr>
              </a:p>
              <a:p>
                <a:r>
                  <a:rPr lang="en-US" sz="1600" dirty="0">
                    <a:latin typeface="Aptos" panose="020B0004020202020204" pitchFamily="34" charset="0"/>
                  </a:rPr>
                  <a:t>Increasing the OTA gain can improve the result, currently 69dB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906019B-933A-E8A2-A152-EC3C0403B5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622" y="1068615"/>
                <a:ext cx="11887646" cy="862480"/>
              </a:xfrm>
              <a:prstGeom prst="rect">
                <a:avLst/>
              </a:prstGeom>
              <a:blipFill>
                <a:blip r:embed="rId3"/>
                <a:stretch>
                  <a:fillRect l="-410" b="-77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8B558A8-9F6A-9956-B81A-77CA71107A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5489" y="2209931"/>
            <a:ext cx="9001021" cy="4561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344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0B7E14C-D9F3-7C67-8BAD-454E49FED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61BF9-4FB9-188F-D1D0-1AAA53A001C7}"/>
                  </a:ext>
                </a:extLst>
              </p:cNvPr>
              <p:cNvSpPr txBox="1"/>
              <p:nvPr/>
            </p:nvSpPr>
            <p:spPr>
              <a:xfrm>
                <a:off x="146890" y="0"/>
                <a:ext cx="12045110" cy="900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4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4800" b="1" i="1" smtClean="0">
                            <a:latin typeface="Cambria Math" panose="02040503050406030204" pitchFamily="18" charset="0"/>
                          </a:rPr>
                          <m:t>𝒓𝒆𝒇</m:t>
                        </m:r>
                      </m:sub>
                    </m:sSub>
                  </m:oMath>
                </a14:m>
                <a:r>
                  <a:rPr lang="en-US" sz="4800" b="1" dirty="0"/>
                  <a:t> across VDD variation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61BF9-4FB9-188F-D1D0-1AAA53A001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90" y="0"/>
                <a:ext cx="12045110" cy="900888"/>
              </a:xfrm>
              <a:prstGeom prst="rect">
                <a:avLst/>
              </a:prstGeom>
              <a:blipFill>
                <a:blip r:embed="rId2"/>
                <a:stretch>
                  <a:fillRect t="-16892" b="-256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19F8F6F-1641-217C-1EC4-F8A4F307D862}"/>
                  </a:ext>
                </a:extLst>
              </p:cNvPr>
              <p:cNvSpPr txBox="1"/>
              <p:nvPr/>
            </p:nvSpPr>
            <p:spPr>
              <a:xfrm>
                <a:off x="216386" y="1068615"/>
                <a:ext cx="11887646" cy="7314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>
                    <a:latin typeface="Aptos" panose="020B0004020202020204" pitchFamily="34" charset="0"/>
                  </a:rPr>
                  <a:t>Max variation is 0.513mV,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𝑃𝑆𝑅𝑅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=20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𝑙𝑜𝑔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10</m:t>
                    </m:r>
                    <m:d>
                      <m:d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sz="1600" b="0" dirty="0" smtClean="0">
                                <a:latin typeface="Cambria Math" panose="02040503050406030204" pitchFamily="18" charset="0"/>
                              </a:rPr>
                              <m:t>Δ</m:t>
                            </m:r>
                            <m:sSub>
                              <m:sSubPr>
                                <m:ctrlP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 b="0" i="0" dirty="0" smtClean="0"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1600" b="0" i="0" dirty="0" smtClean="0">
                                    <a:latin typeface="Cambria Math" panose="02040503050406030204" pitchFamily="18" charset="0"/>
                                  </a:rPr>
                                  <m:t>DD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sz="1600" b="0" dirty="0">
                                <a:latin typeface="Cambria Math" panose="02040503050406030204" pitchFamily="18" charset="0"/>
                              </a:rPr>
                              <m:t>Δ</m:t>
                            </m:r>
                            <m:sSub>
                              <m:sSubPr>
                                <m:ctrlP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 b="0" i="0" dirty="0" smtClean="0"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1600" b="0" i="0" dirty="0" smtClean="0">
                                    <a:latin typeface="Cambria Math" panose="02040503050406030204" pitchFamily="18" charset="0"/>
                                  </a:rPr>
                                  <m:t>ref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sz="1600" b="0" i="0" dirty="0" smtClean="0">
                        <a:latin typeface="Cambria Math" panose="02040503050406030204" pitchFamily="18" charset="0"/>
                      </a:rPr>
                      <m:t>=61.3</m:t>
                    </m:r>
                    <m:r>
                      <m:rPr>
                        <m:sty m:val="p"/>
                      </m:rPr>
                      <a:rPr lang="en-US" sz="1600" b="0" i="0" dirty="0" smtClean="0">
                        <a:latin typeface="Cambria Math" panose="02040503050406030204" pitchFamily="18" charset="0"/>
                      </a:rPr>
                      <m:t>dB</m:t>
                    </m:r>
                  </m:oMath>
                </a14:m>
                <a:r>
                  <a:rPr lang="en-US" sz="1600" dirty="0">
                    <a:latin typeface="Aptos" panose="020B0004020202020204" pitchFamily="34" charset="0"/>
                  </a:rPr>
                  <a:t> </a:t>
                </a:r>
              </a:p>
              <a:p>
                <a:r>
                  <a:rPr lang="en-US" sz="1600" dirty="0">
                    <a:latin typeface="Aptos" panose="020B0004020202020204" pitchFamily="34" charset="0"/>
                  </a:rPr>
                  <a:t>As expected, better current matching gave us better PSRR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19F8F6F-1641-217C-1EC4-F8A4F307D8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386" y="1068615"/>
                <a:ext cx="11887646" cy="731419"/>
              </a:xfrm>
              <a:prstGeom prst="rect">
                <a:avLst/>
              </a:prstGeom>
              <a:blipFill>
                <a:blip r:embed="rId3"/>
                <a:stretch>
                  <a:fillRect l="-256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AutoShape 2">
            <a:extLst>
              <a:ext uri="{FF2B5EF4-FFF2-40B4-BE49-F238E27FC236}">
                <a16:creationId xmlns:a16="http://schemas.microsoft.com/office/drawing/2014/main" id="{21371DCF-0F1A-D55B-F218-B9CD3E66741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7CBF35-99C3-74CB-DC69-E73ADB8887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8723" y="1981367"/>
            <a:ext cx="8198608" cy="4700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679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FE6BE0E-7AC0-9BA3-9DFD-2BCE4C08F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6F4D06-549D-C2A3-61DF-30E67920EF69}"/>
              </a:ext>
            </a:extLst>
          </p:cNvPr>
          <p:cNvSpPr txBox="1"/>
          <p:nvPr/>
        </p:nvSpPr>
        <p:spPr>
          <a:xfrm>
            <a:off x="544945" y="914400"/>
            <a:ext cx="11369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190080-9505-45A9-6AC3-52BC23E2DC36}"/>
              </a:ext>
            </a:extLst>
          </p:cNvPr>
          <p:cNvSpPr txBox="1"/>
          <p:nvPr/>
        </p:nvSpPr>
        <p:spPr>
          <a:xfrm>
            <a:off x="73445" y="0"/>
            <a:ext cx="120451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BGR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492B434D-F6BB-9D66-7ACB-F639CFA4FAF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ECFFA07E-4AF6-8C70-9EA0-D5CD62DE73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78D66DC3-585D-E738-52CB-8E1534CC5D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91221191"/>
                  </p:ext>
                </p:extLst>
              </p:nvPr>
            </p:nvGraphicFramePr>
            <p:xfrm>
              <a:off x="3393031" y="1644134"/>
              <a:ext cx="5405937" cy="25155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01979">
                      <a:extLst>
                        <a:ext uri="{9D8B030D-6E8A-4147-A177-3AD203B41FA5}">
                          <a16:colId xmlns:a16="http://schemas.microsoft.com/office/drawing/2014/main" val="1313187124"/>
                        </a:ext>
                      </a:extLst>
                    </a:gridCol>
                    <a:gridCol w="1801979">
                      <a:extLst>
                        <a:ext uri="{9D8B030D-6E8A-4147-A177-3AD203B41FA5}">
                          <a16:colId xmlns:a16="http://schemas.microsoft.com/office/drawing/2014/main" val="3925917253"/>
                        </a:ext>
                      </a:extLst>
                    </a:gridCol>
                    <a:gridCol w="1801979">
                      <a:extLst>
                        <a:ext uri="{9D8B030D-6E8A-4147-A177-3AD203B41FA5}">
                          <a16:colId xmlns:a16="http://schemas.microsoft.com/office/drawing/2014/main" val="2357002542"/>
                        </a:ext>
                      </a:extLst>
                    </a:gridCol>
                  </a:tblGrid>
                  <a:tr h="5265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Specification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Desired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Reached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6004201"/>
                      </a:ext>
                    </a:extLst>
                  </a:tr>
                  <a:tr h="53383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PSRR [dB]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&gt;40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61.3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97732225"/>
                      </a:ext>
                    </a:extLst>
                  </a:tr>
                  <a:tr h="53383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Power (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oMath>
                          </a14:m>
                          <a:r>
                            <a:rPr lang="en-US" b="1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Minimize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58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17510362"/>
                      </a:ext>
                    </a:extLst>
                  </a:tr>
                  <a:tr h="92140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Temperature Coefficient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&lt;60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𝒑𝒑𝒎</m:t>
                                  </m:r>
                                </m:num>
                                <m:den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℃</m:t>
                                  </m:r>
                                </m:den>
                              </m:f>
                            </m:oMath>
                          </a14:m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7.6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𝒑𝒑𝒎</m:t>
                                  </m:r>
                                </m:num>
                                <m:den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℃</m:t>
                                  </m:r>
                                </m:den>
                              </m:f>
                            </m:oMath>
                          </a14:m>
                          <a:endParaRPr lang="en-US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818262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78D66DC3-585D-E738-52CB-8E1534CC5D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91221191"/>
                  </p:ext>
                </p:extLst>
              </p:nvPr>
            </p:nvGraphicFramePr>
            <p:xfrm>
              <a:off x="3393031" y="1644134"/>
              <a:ext cx="5405937" cy="25155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01979">
                      <a:extLst>
                        <a:ext uri="{9D8B030D-6E8A-4147-A177-3AD203B41FA5}">
                          <a16:colId xmlns:a16="http://schemas.microsoft.com/office/drawing/2014/main" val="1313187124"/>
                        </a:ext>
                      </a:extLst>
                    </a:gridCol>
                    <a:gridCol w="1801979">
                      <a:extLst>
                        <a:ext uri="{9D8B030D-6E8A-4147-A177-3AD203B41FA5}">
                          <a16:colId xmlns:a16="http://schemas.microsoft.com/office/drawing/2014/main" val="3925917253"/>
                        </a:ext>
                      </a:extLst>
                    </a:gridCol>
                    <a:gridCol w="1801979">
                      <a:extLst>
                        <a:ext uri="{9D8B030D-6E8A-4147-A177-3AD203B41FA5}">
                          <a16:colId xmlns:a16="http://schemas.microsoft.com/office/drawing/2014/main" val="2357002542"/>
                        </a:ext>
                      </a:extLst>
                    </a:gridCol>
                  </a:tblGrid>
                  <a:tr h="5265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Specification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Desired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Reached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6004201"/>
                      </a:ext>
                    </a:extLst>
                  </a:tr>
                  <a:tr h="53383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PSRR [dB]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&gt;40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61.3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97732225"/>
                      </a:ext>
                    </a:extLst>
                  </a:tr>
                  <a:tr h="53383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38" t="-206897" r="-201351" b="-1770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Minimize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58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17510362"/>
                      </a:ext>
                    </a:extLst>
                  </a:tr>
                  <a:tr h="92140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Temperature Coefficient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38" t="-175658" r="-101351" b="-1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338" t="-175658" r="-1351" b="-13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8182624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87436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0A33F4D-217D-2882-C65F-7DFCB1E22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E83F5B-1588-BC91-7449-B732D9F2B033}"/>
              </a:ext>
            </a:extLst>
          </p:cNvPr>
          <p:cNvSpPr txBox="1"/>
          <p:nvPr/>
        </p:nvSpPr>
        <p:spPr>
          <a:xfrm>
            <a:off x="73445" y="0"/>
            <a:ext cx="120451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OTA – Design Specs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2C2799-D57C-FAF2-B591-155C98226295}"/>
              </a:ext>
            </a:extLst>
          </p:cNvPr>
          <p:cNvSpPr txBox="1"/>
          <p:nvPr/>
        </p:nvSpPr>
        <p:spPr>
          <a:xfrm>
            <a:off x="0" y="720436"/>
            <a:ext cx="113699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83FACFC1-3E07-386F-A3BD-D30AAA1377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953434"/>
                  </p:ext>
                </p:extLst>
              </p:nvPr>
            </p:nvGraphicFramePr>
            <p:xfrm>
              <a:off x="2032000" y="1182101"/>
              <a:ext cx="8127999" cy="3977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2529261099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1808519590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293500016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Specification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Intended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Reached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68955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DC Gain (dB)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&gt;60 (70 if possible)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69.8dB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95585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GBW (MHz)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10-50MHz estimated for LDO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23MHz (tentative)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37434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ICMR (-)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Minimize (Min. 0.62V)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0.67V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806222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𝒐𝒖𝒕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b="1" dirty="0"/>
                            <a:t> Dynamic</a:t>
                          </a:r>
                          <a:r>
                            <a:rPr lang="en-US" b="1" baseline="0" dirty="0"/>
                            <a:t> Range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Maximize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0.2V to 1.6V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338360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Phase Margin </a:t>
                          </a:r>
                          <a14:m>
                            <m:oMath xmlns:m="http://schemas.openxmlformats.org/officeDocument/2006/math">
                              <m:r>
                                <a:rPr lang="en-US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°)</m:t>
                              </m:r>
                            </m:oMath>
                          </a14:m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72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122494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Gain Margin (dB)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15-25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19.3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43808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𝑳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b="1" dirty="0"/>
                            <a:t> (pF)</a:t>
                          </a: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0.1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723520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b="1" dirty="0"/>
                            <a:t> (pF)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&lt;1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0.8 (tentative)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119803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Power (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oMath>
                          </a14:m>
                          <a:r>
                            <a:rPr lang="en-US" b="1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Minimize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23165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83FACFC1-3E07-386F-A3BD-D30AAA1377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953434"/>
                  </p:ext>
                </p:extLst>
              </p:nvPr>
            </p:nvGraphicFramePr>
            <p:xfrm>
              <a:off x="2032000" y="1182101"/>
              <a:ext cx="8127999" cy="3977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2529261099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1808519590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293500016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Specification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Intended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Reached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68955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DC Gain (dB)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&gt;60 (70 if possible)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69.8dB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9558568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GBW (MHz)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10-50MHz estimated for LDO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23MHz (tentative)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37434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ICMR (-)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Minimize (Min. 0.62V)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0.67V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806222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25" t="-480328" r="-200674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Maximize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0.2V to 1.6V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338360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25" t="-580328" r="-200674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72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122494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Gain Margin (dB)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15-25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19.3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43808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25" t="-780328" r="-200674" b="-224590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0.1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723520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25" t="-880328" r="-200674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&lt;1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0.8 (tentative)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119803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25" t="-980328" r="-20067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Minimize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231650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91094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EE53EB-CFC9-D300-158B-2CE8366AA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423" y="2241523"/>
            <a:ext cx="7698268" cy="46173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A0BB26C-5F28-FFAB-961A-9762AC979AE1}"/>
                  </a:ext>
                </a:extLst>
              </p:cNvPr>
              <p:cNvSpPr txBox="1"/>
              <p:nvPr/>
            </p:nvSpPr>
            <p:spPr>
              <a:xfrm>
                <a:off x="73445" y="0"/>
                <a:ext cx="1204511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800" b="1" dirty="0">
                    <a:latin typeface="Aptos" panose="020B0004020202020204" pitchFamily="34" charset="0"/>
                  </a:rPr>
                  <a:t>Why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4800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  <m:r>
                      <a:rPr lang="en-US" sz="4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8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48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48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4800" b="1" i="1" smtClean="0">
                        <a:latin typeface="Cambria Math" panose="02040503050406030204" pitchFamily="18" charset="0"/>
                      </a:rPr>
                      <m:t>𝒑𝑭</m:t>
                    </m:r>
                  </m:oMath>
                </a14:m>
                <a:endParaRPr lang="en-US" sz="4800" b="1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A0BB26C-5F28-FFAB-961A-9762AC979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5" y="0"/>
                <a:ext cx="12045110" cy="830997"/>
              </a:xfrm>
              <a:prstGeom prst="rect">
                <a:avLst/>
              </a:prstGeom>
              <a:blipFill>
                <a:blip r:embed="rId3"/>
                <a:stretch>
                  <a:fillRect t="-16176" b="-389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1546E0D-7C16-D141-C623-775E052F032F}"/>
                  </a:ext>
                </a:extLst>
              </p:cNvPr>
              <p:cNvSpPr txBox="1"/>
              <p:nvPr/>
            </p:nvSpPr>
            <p:spPr>
              <a:xfrm>
                <a:off x="162962" y="977774"/>
                <a:ext cx="11552222" cy="11169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Aptos" panose="020B0004020202020204" pitchFamily="34" charset="0"/>
                  </a:rPr>
                  <a:t>A 0-1.8V pulse voltage source in series with a 500k resistor at the gate of a PMOS with W=60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>
                    <a:latin typeface="Aptos" panose="020B0004020202020204" pitchFamily="34" charset="0"/>
                  </a:rPr>
                  <a:t>, L=150n (LDO pass transistor size)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=0.632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=64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𝑓𝐹</m:t>
                      </m:r>
                    </m:oMath>
                  </m:oMathPara>
                </a14:m>
                <a:endParaRPr lang="en-US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1546E0D-7C16-D141-C623-775E052F03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962" y="977774"/>
                <a:ext cx="11552222" cy="1116972"/>
              </a:xfrm>
              <a:prstGeom prst="rect">
                <a:avLst/>
              </a:prstGeom>
              <a:blipFill>
                <a:blip r:embed="rId4"/>
                <a:stretch>
                  <a:fillRect l="-475" t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8837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4E73506-3A8E-0AD9-4337-79803B485F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E224BA-A730-F8B3-D764-92617BD7F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151" y="904026"/>
            <a:ext cx="9554898" cy="583537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80CEF5C-8F19-38C7-3058-25F3E0EDE842}"/>
                  </a:ext>
                </a:extLst>
              </p:cNvPr>
              <p:cNvSpPr txBox="1"/>
              <p:nvPr/>
            </p:nvSpPr>
            <p:spPr>
              <a:xfrm>
                <a:off x="146890" y="0"/>
                <a:ext cx="1204511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1" i="1" smtClean="0">
                          <a:latin typeface="Cambria Math" panose="02040503050406030204" pitchFamily="18" charset="0"/>
                        </a:rPr>
                        <m:t>𝑫𝑪</m:t>
                      </m:r>
                      <m:r>
                        <a:rPr lang="en-US" sz="48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4800" b="1" i="1" smtClean="0">
                          <a:latin typeface="Cambria Math" panose="02040503050406030204" pitchFamily="18" charset="0"/>
                        </a:rPr>
                        <m:t>𝑶𝒑𝒆𝒓𝒂𝒕𝒊𝒐𝒏</m:t>
                      </m:r>
                      <m:r>
                        <a:rPr lang="en-US" sz="48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4800" b="1" i="1" smtClean="0">
                          <a:latin typeface="Cambria Math" panose="02040503050406030204" pitchFamily="18" charset="0"/>
                        </a:rPr>
                        <m:t>𝑷𝒐𝒊𝒏𝒕</m:t>
                      </m:r>
                      <m:r>
                        <a:rPr lang="en-US" sz="48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4800" b="1" i="1" smtClean="0">
                          <a:latin typeface="Cambria Math" panose="02040503050406030204" pitchFamily="18" charset="0"/>
                        </a:rPr>
                        <m:t>𝒇𝒐𝒓</m:t>
                      </m:r>
                      <m:r>
                        <a:rPr lang="en-US" sz="4800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4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4800" b="1" i="1" smtClean="0">
                              <a:latin typeface="Cambria Math" panose="02040503050406030204" pitchFamily="18" charset="0"/>
                            </a:rPr>
                            <m:t>𝑪𝑴</m:t>
                          </m:r>
                        </m:sub>
                      </m:sSub>
                      <m:r>
                        <a:rPr lang="en-US" sz="4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8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48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4800" b="1" i="1" smtClean="0">
                          <a:latin typeface="Cambria Math" panose="02040503050406030204" pitchFamily="18" charset="0"/>
                        </a:rPr>
                        <m:t>𝟕𝟏𝟑</m:t>
                      </m:r>
                      <m:r>
                        <a:rPr lang="en-US" sz="4800" b="1" i="1" smtClean="0">
                          <a:latin typeface="Cambria Math" panose="02040503050406030204" pitchFamily="18" charset="0"/>
                        </a:rPr>
                        <m:t>𝑽</m:t>
                      </m:r>
                    </m:oMath>
                  </m:oMathPara>
                </a14:m>
                <a:endParaRPr lang="en-US" sz="48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80CEF5C-8F19-38C7-3058-25F3E0EDE8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90" y="0"/>
                <a:ext cx="12045110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1104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A7D3CB4-8706-FEF5-C13A-1288624EA2FC}"/>
                  </a:ext>
                </a:extLst>
              </p:cNvPr>
              <p:cNvSpPr txBox="1"/>
              <p:nvPr/>
            </p:nvSpPr>
            <p:spPr>
              <a:xfrm>
                <a:off x="146890" y="0"/>
                <a:ext cx="1204511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1" i="1" smtClean="0">
                          <a:latin typeface="Cambria Math" panose="02040503050406030204" pitchFamily="18" charset="0"/>
                        </a:rPr>
                        <m:t>𝑨𝑪</m:t>
                      </m:r>
                      <m:r>
                        <a:rPr lang="en-US" sz="48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4800" b="1" i="1" smtClean="0">
                          <a:latin typeface="Cambria Math" panose="02040503050406030204" pitchFamily="18" charset="0"/>
                        </a:rPr>
                        <m:t>𝑹𝒆𝒔𝒑𝒐𝒏𝒔𝒆</m:t>
                      </m:r>
                      <m:r>
                        <a:rPr lang="en-US" sz="48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4800" b="1" i="1" smtClean="0">
                          <a:latin typeface="Cambria Math" panose="02040503050406030204" pitchFamily="18" charset="0"/>
                        </a:rPr>
                        <m:t>𝑭𝒐𝒓</m:t>
                      </m:r>
                      <m:r>
                        <a:rPr lang="en-US" sz="4800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4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4800" b="1" i="1" smtClean="0">
                              <a:latin typeface="Cambria Math" panose="02040503050406030204" pitchFamily="18" charset="0"/>
                            </a:rPr>
                            <m:t>𝑪𝑴</m:t>
                          </m:r>
                        </m:sub>
                      </m:sSub>
                      <m:r>
                        <a:rPr lang="en-US" sz="4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8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48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4800" b="1" i="1" smtClean="0">
                          <a:latin typeface="Cambria Math" panose="02040503050406030204" pitchFamily="18" charset="0"/>
                        </a:rPr>
                        <m:t>𝟕𝟏𝟑</m:t>
                      </m:r>
                      <m:r>
                        <a:rPr lang="en-US" sz="4800" b="1" i="1" smtClean="0">
                          <a:latin typeface="Cambria Math" panose="02040503050406030204" pitchFamily="18" charset="0"/>
                        </a:rPr>
                        <m:t>𝑽</m:t>
                      </m:r>
                    </m:oMath>
                  </m:oMathPara>
                </a14:m>
                <a:endParaRPr lang="en-US" sz="48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A7D3CB4-8706-FEF5-C13A-1288624EA2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90" y="0"/>
                <a:ext cx="12045110" cy="8309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5CE742E4-4392-C47D-5551-2D122C1A0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24609"/>
            <a:ext cx="12192000" cy="49166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7B1374-E9BF-72BA-3CDE-FAAC209F67D3}"/>
              </a:ext>
            </a:extLst>
          </p:cNvPr>
          <p:cNvSpPr txBox="1"/>
          <p:nvPr/>
        </p:nvSpPr>
        <p:spPr>
          <a:xfrm>
            <a:off x="225622" y="993190"/>
            <a:ext cx="118876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PM of 72 degrees</a:t>
            </a:r>
          </a:p>
          <a:p>
            <a:r>
              <a:rPr lang="en-US" sz="1600" b="1" dirty="0"/>
              <a:t>GM of 19.3dB</a:t>
            </a:r>
          </a:p>
        </p:txBody>
      </p:sp>
    </p:spTree>
    <p:extLst>
      <p:ext uri="{BB962C8B-B14F-4D97-AF65-F5344CB8AC3E}">
        <p14:creationId xmlns:p14="http://schemas.microsoft.com/office/powerpoint/2010/main" val="871858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FA1A8BD-5E0A-7FF5-3DA9-B6C75A54C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AB868A4-6C08-8333-6586-015A6271AF0C}"/>
                  </a:ext>
                </a:extLst>
              </p:cNvPr>
              <p:cNvSpPr txBox="1"/>
              <p:nvPr/>
            </p:nvSpPr>
            <p:spPr>
              <a:xfrm>
                <a:off x="146890" y="0"/>
                <a:ext cx="1204511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1" i="1" smtClean="0">
                          <a:latin typeface="Cambria Math" panose="02040503050406030204" pitchFamily="18" charset="0"/>
                        </a:rPr>
                        <m:t>𝑻𝒓𝒂𝒏𝒔𝒊𝒆𝒏𝒕</m:t>
                      </m:r>
                      <m:r>
                        <a:rPr lang="en-US" sz="48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4800" b="1" i="1" smtClean="0">
                          <a:latin typeface="Cambria Math" panose="02040503050406030204" pitchFamily="18" charset="0"/>
                        </a:rPr>
                        <m:t>𝑹𝒆𝒔𝒑𝒐𝒏𝒔𝒆</m:t>
                      </m:r>
                      <m:r>
                        <a:rPr lang="en-US" sz="48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4800" b="1" i="1" smtClean="0">
                          <a:latin typeface="Cambria Math" panose="02040503050406030204" pitchFamily="18" charset="0"/>
                        </a:rPr>
                        <m:t>𝑭𝒐𝒓</m:t>
                      </m:r>
                      <m:r>
                        <a:rPr lang="en-US" sz="4800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4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4800" b="1" i="1" smtClean="0">
                              <a:latin typeface="Cambria Math" panose="02040503050406030204" pitchFamily="18" charset="0"/>
                            </a:rPr>
                            <m:t>𝑪𝑴</m:t>
                          </m:r>
                        </m:sub>
                      </m:sSub>
                      <m:r>
                        <a:rPr lang="en-US" sz="4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8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48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4800" b="1" i="1" smtClean="0">
                          <a:latin typeface="Cambria Math" panose="02040503050406030204" pitchFamily="18" charset="0"/>
                        </a:rPr>
                        <m:t>𝟕𝟏𝟑</m:t>
                      </m:r>
                      <m:r>
                        <a:rPr lang="en-US" sz="4800" b="1" i="1" smtClean="0">
                          <a:latin typeface="Cambria Math" panose="02040503050406030204" pitchFamily="18" charset="0"/>
                        </a:rPr>
                        <m:t>𝑽</m:t>
                      </m:r>
                    </m:oMath>
                  </m:oMathPara>
                </a14:m>
                <a:endParaRPr lang="en-US" sz="48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AB868A4-6C08-8333-6586-015A6271A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90" y="0"/>
                <a:ext cx="12045110" cy="8309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AutoShape 2">
            <a:extLst>
              <a:ext uri="{FF2B5EF4-FFF2-40B4-BE49-F238E27FC236}">
                <a16:creationId xmlns:a16="http://schemas.microsoft.com/office/drawing/2014/main" id="{0F6BEE2A-EFAD-DF5C-6B6D-4B1C9F13B5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778E9F-1140-418C-B69F-604D7EBBA4E7}"/>
              </a:ext>
            </a:extLst>
          </p:cNvPr>
          <p:cNvSpPr txBox="1"/>
          <p:nvPr/>
        </p:nvSpPr>
        <p:spPr>
          <a:xfrm>
            <a:off x="734291" y="1025236"/>
            <a:ext cx="10418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AC input is a 500uV amplitude sin wave at a 1kHz to the non-inverting input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E4E0AE19-FED8-00BA-513B-298BB2CB50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AD010C-5D61-D1A3-6E3B-D22DE6008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5414" y="1588807"/>
            <a:ext cx="7721172" cy="505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309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61C825B-C177-79ED-E633-5DC146E8F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1DD599-C98F-ADB3-E2C5-8559C3653158}"/>
              </a:ext>
            </a:extLst>
          </p:cNvPr>
          <p:cNvSpPr txBox="1"/>
          <p:nvPr/>
        </p:nvSpPr>
        <p:spPr>
          <a:xfrm>
            <a:off x="146890" y="86246"/>
            <a:ext cx="120451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LDO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A4BF3ABE-F193-5F5E-455E-84DA9B2E21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8F8521-6C02-E77C-DCAA-E552FAA45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356" y="1702327"/>
            <a:ext cx="8285288" cy="51556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64E5144-3039-B971-DDCD-1629C39C6DFB}"/>
              </a:ext>
            </a:extLst>
          </p:cNvPr>
          <p:cNvSpPr txBox="1"/>
          <p:nvPr/>
        </p:nvSpPr>
        <p:spPr>
          <a:xfrm>
            <a:off x="146890" y="917243"/>
            <a:ext cx="11613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Initial design of LDO to check the suitability of the BGR and the OTA for the LDO</a:t>
            </a:r>
          </a:p>
        </p:txBody>
      </p:sp>
    </p:spTree>
    <p:extLst>
      <p:ext uri="{BB962C8B-B14F-4D97-AF65-F5344CB8AC3E}">
        <p14:creationId xmlns:p14="http://schemas.microsoft.com/office/powerpoint/2010/main" val="849441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04CBE52-AC9B-48AD-BC72-39A361ACA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C47C60E-60D0-A701-AAE5-8B43872BDC10}"/>
                  </a:ext>
                </a:extLst>
              </p:cNvPr>
              <p:cNvSpPr txBox="1"/>
              <p:nvPr/>
            </p:nvSpPr>
            <p:spPr>
              <a:xfrm>
                <a:off x="146890" y="86246"/>
                <a:ext cx="1204511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800" b="1" dirty="0">
                    <a:latin typeface="Aptos" panose="020B0004020202020204" pitchFamily="34" charset="0"/>
                  </a:rPr>
                  <a:t>LDO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4800" b="1" i="1" smtClean="0">
                            <a:latin typeface="Cambria Math" panose="02040503050406030204" pitchFamily="18" charset="0"/>
                          </a:rPr>
                          <m:t>𝒐𝒖𝒕</m:t>
                        </m:r>
                      </m:sub>
                    </m:sSub>
                  </m:oMath>
                </a14:m>
                <a:r>
                  <a:rPr lang="en-US" sz="4800" b="1" dirty="0">
                    <a:latin typeface="Aptos" panose="020B0004020202020204" pitchFamily="34" charset="0"/>
                  </a:rPr>
                  <a:t> across temperatures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C47C60E-60D0-A701-AAE5-8B43872BDC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90" y="86246"/>
                <a:ext cx="12045110" cy="830997"/>
              </a:xfrm>
              <a:prstGeom prst="rect">
                <a:avLst/>
              </a:prstGeom>
              <a:blipFill>
                <a:blip r:embed="rId2"/>
                <a:stretch>
                  <a:fillRect t="-16176" b="-389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BCFA49C8-99E6-EF6E-80CC-4D2AA3889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467" y="875465"/>
            <a:ext cx="9431066" cy="598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6178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333B9AB-1097-6B84-D951-6F518CF83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B9D70E-BA34-EFB6-5B77-F3020F51CA43}"/>
              </a:ext>
            </a:extLst>
          </p:cNvPr>
          <p:cNvSpPr txBox="1"/>
          <p:nvPr/>
        </p:nvSpPr>
        <p:spPr>
          <a:xfrm>
            <a:off x="146890" y="86246"/>
            <a:ext cx="120451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Aptos" panose="020B0004020202020204" pitchFamily="34" charset="0"/>
              </a:rPr>
              <a:t>LDO – Line Regulation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709BD63-1C3C-B1BD-F3E8-3A4ACB9827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ED9880B-4692-8CF2-140D-1F17A0E546E8}"/>
                  </a:ext>
                </a:extLst>
              </p:cNvPr>
              <p:cNvSpPr txBox="1"/>
              <p:nvPr/>
            </p:nvSpPr>
            <p:spPr>
              <a:xfrm>
                <a:off x="146890" y="853220"/>
                <a:ext cx="10418618" cy="8032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Aptos" panose="020B0004020202020204" pitchFamily="34" charset="0"/>
                  </a:rPr>
                  <a:t>How stable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dirty="0">
                    <a:latin typeface="Aptos" panose="020B0004020202020204" pitchFamily="34" charset="0"/>
                  </a:rPr>
                  <a:t> is despite changes in VDD:</a:t>
                </a:r>
              </a:p>
              <a:p>
                <a:pPr algn="ctr"/>
                <a:r>
                  <a:rPr lang="en-US" dirty="0">
                    <a:latin typeface="Aptos" panose="020B0004020202020204" pitchFamily="34" charset="0"/>
                  </a:rPr>
                  <a:t>		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𝐷𝐷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0.74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600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=0.00123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</m:oMath>
                </a14:m>
                <a:endParaRPr lang="en-US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ED9880B-4692-8CF2-140D-1F17A0E546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90" y="853220"/>
                <a:ext cx="10418618" cy="803297"/>
              </a:xfrm>
              <a:prstGeom prst="rect">
                <a:avLst/>
              </a:prstGeom>
              <a:blipFill>
                <a:blip r:embed="rId2"/>
                <a:stretch>
                  <a:fillRect l="-468" t="-37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E4F8E970-4815-C0AD-2655-90B13E3A4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188" y="1873213"/>
            <a:ext cx="7861540" cy="4984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4499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819ED13-2DC9-3C00-ED59-8B3AA4957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CF7A11-E2B2-44A6-134C-9E3954A1FA9B}"/>
              </a:ext>
            </a:extLst>
          </p:cNvPr>
          <p:cNvSpPr txBox="1"/>
          <p:nvPr/>
        </p:nvSpPr>
        <p:spPr>
          <a:xfrm>
            <a:off x="146890" y="86246"/>
            <a:ext cx="120451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Aptos" panose="020B0004020202020204" pitchFamily="34" charset="0"/>
              </a:rPr>
              <a:t>LDO – Load Regulation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D057088-E3DC-794E-ED9B-3706333E27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6394054-6C7E-36EC-4FE0-CB5D64EDEA4E}"/>
                  </a:ext>
                </a:extLst>
              </p:cNvPr>
              <p:cNvSpPr txBox="1"/>
              <p:nvPr/>
            </p:nvSpPr>
            <p:spPr>
              <a:xfrm>
                <a:off x="146890" y="853220"/>
                <a:ext cx="11898220" cy="1213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Aptos" panose="020B0004020202020204" pitchFamily="34" charset="0"/>
                  </a:rPr>
                  <a:t>How stable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dirty="0">
                    <a:latin typeface="Aptos" panose="020B0004020202020204" pitchFamily="34" charset="0"/>
                  </a:rPr>
                  <a:t> is despite changes in the load current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𝑙𝑜𝑎𝑑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0.429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𝑚𝑉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11.9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𝑚𝐴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=0.036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𝑚𝑉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𝑚𝐴</m:t>
                          </m:r>
                        </m:den>
                      </m:f>
                    </m:oMath>
                  </m:oMathPara>
                </a14:m>
                <a:endParaRPr lang="en-US" dirty="0">
                  <a:latin typeface="Aptos" panose="020B0004020202020204" pitchFamily="34" charset="0"/>
                </a:endParaRPr>
              </a:p>
              <a:p>
                <a:r>
                  <a:rPr lang="en-US" dirty="0">
                    <a:latin typeface="Aptos" panose="020B0004020202020204" pitchFamily="34" charset="0"/>
                  </a:rPr>
                  <a:t>The load resistance changed between 70 to 1200 Ohm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6394054-6C7E-36EC-4FE0-CB5D64EDEA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90" y="853220"/>
                <a:ext cx="11898220" cy="1213537"/>
              </a:xfrm>
              <a:prstGeom prst="rect">
                <a:avLst/>
              </a:prstGeom>
              <a:blipFill>
                <a:blip r:embed="rId2"/>
                <a:stretch>
                  <a:fillRect l="-410" t="-2513" b="-7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AutoShape 2">
            <a:extLst>
              <a:ext uri="{FF2B5EF4-FFF2-40B4-BE49-F238E27FC236}">
                <a16:creationId xmlns:a16="http://schemas.microsoft.com/office/drawing/2014/main" id="{95D53421-2149-4752-B31C-51AE1461F4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3256D7F-69A2-EB09-4983-8771C2C7C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70156"/>
            <a:ext cx="12192000" cy="4965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2261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DDA90A-3EC1-6768-A19A-04904FF6B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59291"/>
            <a:ext cx="12192000" cy="4553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54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2115D2-3F07-B1A5-ED8A-22815D776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31492"/>
            <a:ext cx="12192000" cy="45736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84ACD5-6689-6519-F50C-F518BE13B675}"/>
              </a:ext>
            </a:extLst>
          </p:cNvPr>
          <p:cNvSpPr txBox="1"/>
          <p:nvPr/>
        </p:nvSpPr>
        <p:spPr>
          <a:xfrm>
            <a:off x="841972" y="253497"/>
            <a:ext cx="3956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100 to 1000 ohm</a:t>
            </a:r>
          </a:p>
        </p:txBody>
      </p:sp>
    </p:spTree>
    <p:extLst>
      <p:ext uri="{BB962C8B-B14F-4D97-AF65-F5344CB8AC3E}">
        <p14:creationId xmlns:p14="http://schemas.microsoft.com/office/powerpoint/2010/main" val="23575783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2C35B9-C836-7F26-BE73-952E8C12F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0271"/>
            <a:ext cx="12192000" cy="45174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A6CF649-DA00-91DD-EA43-53B40C2885CD}"/>
              </a:ext>
            </a:extLst>
          </p:cNvPr>
          <p:cNvSpPr txBox="1"/>
          <p:nvPr/>
        </p:nvSpPr>
        <p:spPr>
          <a:xfrm>
            <a:off x="841972" y="253497"/>
            <a:ext cx="3956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1000 to 100 </a:t>
            </a:r>
            <a:r>
              <a:rPr lang="en-US" dirty="0"/>
              <a:t>ohm</a:t>
            </a:r>
          </a:p>
        </p:txBody>
      </p:sp>
    </p:spTree>
    <p:extLst>
      <p:ext uri="{BB962C8B-B14F-4D97-AF65-F5344CB8AC3E}">
        <p14:creationId xmlns:p14="http://schemas.microsoft.com/office/powerpoint/2010/main" val="7025876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1056</TotalTime>
  <Words>548</Words>
  <Application>Microsoft Office PowerPoint</Application>
  <PresentationFormat>Widescreen</PresentationFormat>
  <Paragraphs>97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Arial</vt:lpstr>
      <vt:lpstr>Cambria Math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Arsen Arutyunov</dc:creator>
  <cp:lastModifiedBy>Arsen Arutyunov</cp:lastModifiedBy>
  <cp:revision>474</cp:revision>
  <dcterms:created xsi:type="dcterms:W3CDTF">2024-12-01T13:41:05Z</dcterms:created>
  <dcterms:modified xsi:type="dcterms:W3CDTF">2025-01-18T22:06:17Z</dcterms:modified>
</cp:coreProperties>
</file>